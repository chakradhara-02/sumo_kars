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e44025b6c24474" /><Relationship Type="http://schemas.openxmlformats.org/officeDocument/2006/relationships/extended-properties" Target="/docProps/app.xml" Id="R011b742420d94756" /><Relationship Type="http://schemas.openxmlformats.org/officeDocument/2006/relationships/officeDocument" Target="/ppt/presentation.xml" Id="Rb5a7087b361645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e368bea47b4365"/>
  </p:sldMasterIdLst>
  <p:notesMasterIdLst>
    <p:notesMasterId xmlns:r="http://schemas.openxmlformats.org/officeDocument/2006/relationships" r:id="Rc4b3a7fb86c04b10"/>
  </p:notesMasterIdLst>
  <p:sldIdLst>
    <p:sldId xmlns:r="http://schemas.openxmlformats.org/officeDocument/2006/relationships" id="256" r:id="R1f2f3aea52284baf"/>
    <p:sldId xmlns:r="http://schemas.openxmlformats.org/officeDocument/2006/relationships" id="257" r:id="R540539f7b0ed4cc6"/>
    <p:sldId xmlns:r="http://schemas.openxmlformats.org/officeDocument/2006/relationships" id="258" r:id="R04653a46c4f14d94"/>
    <p:sldId xmlns:r="http://schemas.openxmlformats.org/officeDocument/2006/relationships" id="259" r:id="Rd483cc68ca13443c"/>
    <p:sldId xmlns:r="http://schemas.openxmlformats.org/officeDocument/2006/relationships" id="260" r:id="R7b0f7f5c915a45aa"/>
    <p:sldId xmlns:r="http://schemas.openxmlformats.org/officeDocument/2006/relationships" id="261" r:id="Ra6a2e5f37016471a"/>
    <p:sldId xmlns:r="http://schemas.openxmlformats.org/officeDocument/2006/relationships" id="262" r:id="R8f4e24f8f8894472"/>
    <p:sldId xmlns:r="http://schemas.openxmlformats.org/officeDocument/2006/relationships" id="263" r:id="R66c2ee1e31864344"/>
    <p:sldId xmlns:r="http://schemas.openxmlformats.org/officeDocument/2006/relationships" id="264" r:id="Rbe4ec011fc9946ae"/>
    <p:sldId xmlns:r="http://schemas.openxmlformats.org/officeDocument/2006/relationships" id="265" r:id="R4ca950d9ad614154"/>
    <p:sldId xmlns:r="http://schemas.openxmlformats.org/officeDocument/2006/relationships" id="266" r:id="Re657f7d1a82743cf"/>
    <p:sldId xmlns:r="http://schemas.openxmlformats.org/officeDocument/2006/relationships" id="267" r:id="R775c831e1e234e52"/>
    <p:sldId xmlns:r="http://schemas.openxmlformats.org/officeDocument/2006/relationships" id="268" r:id="Rf2982dad84804a7d"/>
    <p:sldId xmlns:r="http://schemas.openxmlformats.org/officeDocument/2006/relationships" id="269" r:id="R82ca80ab790a4ba0"/>
    <p:sldId xmlns:r="http://schemas.openxmlformats.org/officeDocument/2006/relationships" id="270" r:id="R1ee87dd16b624163"/>
    <p:sldId xmlns:r="http://schemas.openxmlformats.org/officeDocument/2006/relationships" id="271" r:id="R2cbf5fb932ae4404"/>
    <p:sldId xmlns:r="http://schemas.openxmlformats.org/officeDocument/2006/relationships" id="272" r:id="Ra1dc3aac9e6046ab"/>
    <p:sldId xmlns:r="http://schemas.openxmlformats.org/officeDocument/2006/relationships" id="273" r:id="Rcd49d6f7ac4b49c8"/>
    <p:sldId xmlns:r="http://schemas.openxmlformats.org/officeDocument/2006/relationships" id="274" r:id="R9d743187a4734167"/>
    <p:sldId xmlns:r="http://schemas.openxmlformats.org/officeDocument/2006/relationships" id="275" r:id="Rc4582caee4af4c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a8bf44f59d490a" /><Relationship Type="http://schemas.openxmlformats.org/officeDocument/2006/relationships/slideMaster" Target="/ppt/slideMasters/slideMaster1.xml" Id="Rdce368bea47b4365" /><Relationship Type="http://schemas.openxmlformats.org/officeDocument/2006/relationships/notesMaster" Target="/ppt/notesMasters/notesMaster1.xml" Id="Rc4b3a7fb86c04b10" /><Relationship Type="http://schemas.openxmlformats.org/officeDocument/2006/relationships/presProps" Target="/ppt/presProps.xml" Id="R1fb792032b174e9d" /><Relationship Type="http://schemas.openxmlformats.org/officeDocument/2006/relationships/tableStyles" Target="/ppt/tableStyles.xml" Id="R96dfa89424824f91" /><Relationship Type="http://schemas.openxmlformats.org/officeDocument/2006/relationships/slide" Target="/ppt/slides/slide1.xml" Id="R1f2f3aea52284baf" /><Relationship Type="http://schemas.openxmlformats.org/officeDocument/2006/relationships/slide" Target="/ppt/slides/slide2.xml" Id="R540539f7b0ed4cc6" /><Relationship Type="http://schemas.openxmlformats.org/officeDocument/2006/relationships/slide" Target="/ppt/slides/slide3.xml" Id="R04653a46c4f14d94" /><Relationship Type="http://schemas.openxmlformats.org/officeDocument/2006/relationships/slide" Target="/ppt/slides/slide4.xml" Id="Rd483cc68ca13443c" /><Relationship Type="http://schemas.openxmlformats.org/officeDocument/2006/relationships/slide" Target="/ppt/slides/slide5.xml" Id="R7b0f7f5c915a45aa" /><Relationship Type="http://schemas.openxmlformats.org/officeDocument/2006/relationships/slide" Target="/ppt/slides/slide6.xml" Id="Ra6a2e5f37016471a" /><Relationship Type="http://schemas.openxmlformats.org/officeDocument/2006/relationships/slide" Target="/ppt/slides/slide7.xml" Id="R8f4e24f8f8894472" /><Relationship Type="http://schemas.openxmlformats.org/officeDocument/2006/relationships/slide" Target="/ppt/slides/slide8.xml" Id="R66c2ee1e31864344" /><Relationship Type="http://schemas.openxmlformats.org/officeDocument/2006/relationships/slide" Target="/ppt/slides/slide9.xml" Id="Rbe4ec011fc9946ae" /><Relationship Type="http://schemas.openxmlformats.org/officeDocument/2006/relationships/slide" Target="/ppt/slides/slide10.xml" Id="R4ca950d9ad614154" /><Relationship Type="http://schemas.openxmlformats.org/officeDocument/2006/relationships/slide" Target="/ppt/slides/slide11.xml" Id="Re657f7d1a82743cf" /><Relationship Type="http://schemas.openxmlformats.org/officeDocument/2006/relationships/slide" Target="/ppt/slides/slide12.xml" Id="R775c831e1e234e52" /><Relationship Type="http://schemas.openxmlformats.org/officeDocument/2006/relationships/slide" Target="/ppt/slides/slide13.xml" Id="Rf2982dad84804a7d" /><Relationship Type="http://schemas.openxmlformats.org/officeDocument/2006/relationships/slide" Target="/ppt/slides/slide14.xml" Id="R82ca80ab790a4ba0" /><Relationship Type="http://schemas.openxmlformats.org/officeDocument/2006/relationships/slide" Target="/ppt/slides/slide15.xml" Id="R1ee87dd16b624163" /><Relationship Type="http://schemas.openxmlformats.org/officeDocument/2006/relationships/slide" Target="/ppt/slides/slide16.xml" Id="R2cbf5fb932ae4404" /><Relationship Type="http://schemas.openxmlformats.org/officeDocument/2006/relationships/slide" Target="/ppt/slides/slide17.xml" Id="Ra1dc3aac9e6046ab" /><Relationship Type="http://schemas.openxmlformats.org/officeDocument/2006/relationships/slide" Target="/ppt/slides/slide18.xml" Id="Rcd49d6f7ac4b49c8" /><Relationship Type="http://schemas.openxmlformats.org/officeDocument/2006/relationships/slide" Target="/ppt/slides/slide19.xml" Id="R9d743187a4734167" /><Relationship Type="http://schemas.openxmlformats.org/officeDocument/2006/relationships/slide" Target="/ppt/slides/slide20.xml" Id="Rc4582caee4af4c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03ef6f0be346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29744658a34ae7" /><Relationship Type="http://schemas.openxmlformats.org/officeDocument/2006/relationships/notesMaster" Target="/ppt/notesMasters/notesMaster1.xml" Id="R795495a21c574b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9078b522c04cb6" /><Relationship Type="http://schemas.openxmlformats.org/officeDocument/2006/relationships/notesMaster" Target="/ppt/notesMasters/notesMaster1.xml" Id="R26f7c020463947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a953a554444f5e" /><Relationship Type="http://schemas.openxmlformats.org/officeDocument/2006/relationships/notesMaster" Target="/ppt/notesMasters/notesMaster1.xml" Id="Rf5b524ec614e4f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0d31d5283b4401" /><Relationship Type="http://schemas.openxmlformats.org/officeDocument/2006/relationships/notesMaster" Target="/ppt/notesMasters/notesMaster1.xml" Id="Rf738e49019414c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d8cbe95aa64600" /><Relationship Type="http://schemas.openxmlformats.org/officeDocument/2006/relationships/notesMaster" Target="/ppt/notesMasters/notesMaster1.xml" Id="Rbec9ee447e5344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6ff17c27644de9" /><Relationship Type="http://schemas.openxmlformats.org/officeDocument/2006/relationships/notesMaster" Target="/ppt/notesMasters/notesMaster1.xml" Id="R38eb3724457943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68a7362b074d55" /><Relationship Type="http://schemas.openxmlformats.org/officeDocument/2006/relationships/notesMaster" Target="/ppt/notesMasters/notesMaster1.xml" Id="R09cf4bcae82241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897cba19cb4258" /><Relationship Type="http://schemas.openxmlformats.org/officeDocument/2006/relationships/notesMaster" Target="/ppt/notesMasters/notesMaster1.xml" Id="R2f79b08d64fb4f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6557803f5d4ed3" /><Relationship Type="http://schemas.openxmlformats.org/officeDocument/2006/relationships/notesMaster" Target="/ppt/notesMasters/notesMaster1.xml" Id="R45765197060b41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d094f11f9847e9" /><Relationship Type="http://schemas.openxmlformats.org/officeDocument/2006/relationships/notesMaster" Target="/ppt/notesMasters/notesMaster1.xml" Id="R2b3ed754fc934e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501c468cbd4010" /><Relationship Type="http://schemas.openxmlformats.org/officeDocument/2006/relationships/notesMaster" Target="/ppt/notesMasters/notesMaster1.xml" Id="R7248da5835ac4b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3b4959cd374e8b" /><Relationship Type="http://schemas.openxmlformats.org/officeDocument/2006/relationships/notesMaster" Target="/ppt/notesMasters/notesMaster1.xml" Id="R670e45cd9e3e41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a9aa95a4394281" /><Relationship Type="http://schemas.openxmlformats.org/officeDocument/2006/relationships/notesMaster" Target="/ppt/notesMasters/notesMaster1.xml" Id="R6a9ac56fa69541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b6031fdc4f4b64" /><Relationship Type="http://schemas.openxmlformats.org/officeDocument/2006/relationships/notesMaster" Target="/ppt/notesMasters/notesMaster1.xml" Id="R638e369c27104c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ed10e9f6be4c0b" /><Relationship Type="http://schemas.openxmlformats.org/officeDocument/2006/relationships/notesMaster" Target="/ppt/notesMasters/notesMaster1.xml" Id="R3180ec05277d40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2c67fac57e4f44" /><Relationship Type="http://schemas.openxmlformats.org/officeDocument/2006/relationships/notesMaster" Target="/ppt/notesMasters/notesMaster1.xml" Id="Rbe4f890023714d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b8f5a0bb0a349f6" /><Relationship Type="http://schemas.openxmlformats.org/officeDocument/2006/relationships/notesMaster" Target="/ppt/notesMasters/notesMaster1.xml" Id="R944d4faa86864b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4f83f92baa4e34" /><Relationship Type="http://schemas.openxmlformats.org/officeDocument/2006/relationships/notesMaster" Target="/ppt/notesMasters/notesMaster1.xml" Id="Rb4447d3f3e1d40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d80aee861f4cef" /><Relationship Type="http://schemas.openxmlformats.org/officeDocument/2006/relationships/notesMaster" Target="/ppt/notesMasters/notesMaster1.xml" Id="Rdf5b1db5f30744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36fdf40e7f348a8" /><Relationship Type="http://schemas.openxmlformats.org/officeDocument/2006/relationships/notesMaster" Target="/ppt/notesMasters/notesMaster1.xml" Id="Red13d388a88e4c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SUMO simulation of traffic knowledge and reachable motion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 restrictions and nearby vehicles change while the ego vehicle moves. Delayed observations can misrepresent available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student laptop can reproduce traffic events and compare planning decisions using measured simulation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referenced KARS work connects traffic knowledge with reachable-set planning. This implementation uses project-level approximations.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study delayed and lost traffic knowledge. The full paper was unavailable, so we do not assert an unverified gap in its experiments.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Received packets become RDF constraints. The planner prunes motion, selects a chain and requests speed/lane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SUMO, TraCI, simulated IoT, RDF/SPARQL, RS, corridor DP, SLSQP and control form a repeating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seeded channel delays or drops packets. Each snapshot retains its generation timestamp. No hardware sensor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Static schema describes roads and lanes. Dynamic triples describe observed vehicles and active restrictions. SPARQL drives pruning.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Offline samples define actions. Online propagation uses x_next=x+v dt+0.5a dt² and v_next=v+a dt. The grid is finite.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Swept segments are checked against spatial, spatial-speed, spatial-temporal and spatial-temporal-speed restrictions.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Terminal lane endpoints define ancestor corridors. DP minimizes speed deficit, acceleration, lane switching and center distance.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SLSQP smooths longitudinal acceleration within bounds. Invalid optimization falls back to the feasible DP 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Vehicle occupancy grows with packet age. Missing or stale knowledge triggers controlled braking. Compare safety and progress together.</a:t>
            </a:r>
          </a:p>
          <a:p xmlns:a="http://schemas.openxmlformats.org/drawingml/2006/main">
            <a:r>
              <a:t>Extension evidence: outputs/sweep/results.csv. Nominal delay 2 s, packet loss 0.15, density periods 5/9/15 s, seeds 1/2/3, nine runs per planner. Clearance is lane-specific. SUMO safety remains enabled. Improvement is not uniform at other delays.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How is this distinguished from existing KARS?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Construction, temporary lane blockage, lead braking, changed speed cap and traffic signal exercise the full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ego vehicle arrived. SUMO reported 0 collision events and 0 rule violation samples. The simulator safety controller stayed enabled.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Did the ego arrive and how did SUMO safety affect outcomes?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A* searches the same feasible time-state graph. Basic RS omits traffic-rule pruning. All planners retain identical SUMO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Explicit queries and rejection sources make decisions auditable. Tests and seeded scenarios support reproduction.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 validated lateral dynamics and physical obstacles. Obtain the full paper for equation alignment. Calibrate uncertainty before real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demonstrates knowledge-driven local planning and an implementable delay-aware extension. Measured comparisons determine its benefit.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question: Which assumptions limit this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implementation and measured outputs/demo_kars_delay_seed1/metrics.json. Research motivation: https://doi.org/10.1109/JIOT.2025.3613790. Exact paper reproduction is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4f5137e6c4d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5b7b5fd9724b1b" /><Relationship Type="http://schemas.openxmlformats.org/officeDocument/2006/relationships/slideLayout" Target="/ppt/slideLayouts/slideLayout1.xml" Id="Ra7231f4d90aa46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231f4d90aa46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c238e971b49e7" /><Relationship Type="http://schemas.openxmlformats.org/officeDocument/2006/relationships/notesSlide" Target="/ppt/notesSlides/notesSlide1.xml" Id="R7b282b4d8d194e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c24297d9b4b24" /><Relationship Type="http://schemas.openxmlformats.org/officeDocument/2006/relationships/notesSlide" Target="/ppt/notesSlides/notesSlide2.xml" Id="R0f770fe748a541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13022aa694095" /><Relationship Type="http://schemas.openxmlformats.org/officeDocument/2006/relationships/notesSlide" Target="/ppt/notesSlides/notesSlide3.xml" Id="Rbbf9c8c09f70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35c4f7c0d4b02" /><Relationship Type="http://schemas.openxmlformats.org/officeDocument/2006/relationships/notesSlide" Target="/ppt/notesSlides/notesSlide4.xml" Id="R4673a515236343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13746e2344bec" /><Relationship Type="http://schemas.openxmlformats.org/officeDocument/2006/relationships/notesSlide" Target="/ppt/notesSlides/notesSlide5.xml" Id="R2a7d4c09927c4f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9f5ab3ee542ea" /><Relationship Type="http://schemas.openxmlformats.org/officeDocument/2006/relationships/notesSlide" Target="/ppt/notesSlides/notesSlide6.xml" Id="Rff4d2b4e84a146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d0672756f43b8" /><Relationship Type="http://schemas.openxmlformats.org/officeDocument/2006/relationships/notesSlide" Target="/ppt/notesSlides/notesSlide7.xml" Id="Racb56edd97f941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e2819f31d4fb0" /><Relationship Type="http://schemas.openxmlformats.org/officeDocument/2006/relationships/notesSlide" Target="/ppt/notesSlides/notesSlide8.xml" Id="Refe45bc6856a42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1c24513d74770" /><Relationship Type="http://schemas.openxmlformats.org/officeDocument/2006/relationships/notesSlide" Target="/ppt/notesSlides/notesSlide9.xml" Id="Rbfd7d408ced04a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c973056cf4b15" /><Relationship Type="http://schemas.openxmlformats.org/officeDocument/2006/relationships/notesSlide" Target="/ppt/notesSlides/notesSlide10.xml" Id="R27b8495743854b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0d6e2f0be4c08" /><Relationship Type="http://schemas.openxmlformats.org/officeDocument/2006/relationships/notesSlide" Target="/ppt/notesSlides/notesSlide11.xml" Id="Rb1f9e13c1fdc43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db479b4df4638" /><Relationship Type="http://schemas.openxmlformats.org/officeDocument/2006/relationships/notesSlide" Target="/ppt/notesSlides/notesSlide12.xml" Id="Rde6caa8272534f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afdc0f1934323" /><Relationship Type="http://schemas.openxmlformats.org/officeDocument/2006/relationships/notesSlide" Target="/ppt/notesSlides/notesSlide13.xml" Id="R9737ff6152834a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acc92481c4041" /><Relationship Type="http://schemas.openxmlformats.org/officeDocument/2006/relationships/notesSlide" Target="/ppt/notesSlides/notesSlide14.xml" Id="Ra1eccb584c9147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e4ec2774f4f89" /><Relationship Type="http://schemas.openxmlformats.org/officeDocument/2006/relationships/notesSlide" Target="/ppt/notesSlides/notesSlide15.xml" Id="R509ed92566824e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8625fa12149b4" /><Relationship Type="http://schemas.openxmlformats.org/officeDocument/2006/relationships/chart" Target="/ppt/slides/charts/chart1.xml" Id="R879853aa8a2b4653" /><Relationship Type="http://schemas.openxmlformats.org/officeDocument/2006/relationships/notesSlide" Target="/ppt/notesSlides/notesSlide16.xml" Id="R36ad56d8313045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7cca3055745a3" /><Relationship Type="http://schemas.openxmlformats.org/officeDocument/2006/relationships/chart" Target="/ppt/slides/charts/chart2.xml" Id="Rd598100d95c34319" /><Relationship Type="http://schemas.openxmlformats.org/officeDocument/2006/relationships/notesSlide" Target="/ppt/notesSlides/notesSlide17.xml" Id="R859c86821e3549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488ffc3de4a36" /><Relationship Type="http://schemas.openxmlformats.org/officeDocument/2006/relationships/notesSlide" Target="/ppt/notesSlides/notesSlide18.xml" Id="R481c67eeaed643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a2c81f4be4ce9" /><Relationship Type="http://schemas.openxmlformats.org/officeDocument/2006/relationships/notesSlide" Target="/ppt/notesSlides/notesSlide19.xml" Id="Rafd687c9990947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e4bb7b4944925" /><Relationship Type="http://schemas.openxmlformats.org/officeDocument/2006/relationships/notesSlide" Target="/ppt/notesSlides/notesSlide20.xml" Id="R7c8f5719df1f46c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Measured speed (m/s)</c:v>
          </c:tx>
          <c:spPr>
            <a:solidFill xmlns:a="http://schemas.openxmlformats.org/drawingml/2006/main">
              <a:srgbClr val="167E9C"/>
            </a:solidFill>
          </c:spPr>
          <c:marker>
            <c:symbol val="none"/>
          </c:marker>
          <c:cat>
            <c:numRef>
              <c:f>'Chart Data'!$A$2:$A$19</c:f>
              <c:numCache>
                <c:formatCode>General</c:formatCode>
                <c:ptCount val="18"/>
                <c:pt idx="0">
                  <c:v>0.2</c:v>
                </c:pt>
                <c:pt idx="1">
                  <c:v>5.8</c:v>
                </c:pt>
                <c:pt idx="2">
                  <c:v>11.4</c:v>
                </c:pt>
                <c:pt idx="3">
                  <c:v>17.0</c:v>
                </c:pt>
                <c:pt idx="4">
                  <c:v>22.6</c:v>
                </c:pt>
                <c:pt idx="5">
                  <c:v>28.2</c:v>
                </c:pt>
                <c:pt idx="6">
                  <c:v>33.8</c:v>
                </c:pt>
                <c:pt idx="7">
                  <c:v>39.4</c:v>
                </c:pt>
                <c:pt idx="8">
                  <c:v>45.0</c:v>
                </c:pt>
                <c:pt idx="9">
                  <c:v>50.6</c:v>
                </c:pt>
                <c:pt idx="10">
                  <c:v>56.2</c:v>
                </c:pt>
                <c:pt idx="11">
                  <c:v>61.8</c:v>
                </c:pt>
                <c:pt idx="12">
                  <c:v>67.4</c:v>
                </c:pt>
                <c:pt idx="13">
                  <c:v>73.0</c:v>
                </c:pt>
                <c:pt idx="14">
                  <c:v>78.6</c:v>
                </c:pt>
                <c:pt idx="15">
                  <c:v>84.2</c:v>
                </c:pt>
                <c:pt idx="16">
                  <c:v>89.8</c:v>
                </c:pt>
                <c:pt idx="17">
                  <c:v>95.4</c:v>
                </c:pt>
              </c:numCache>
            </c:numRef>
          </c:cat>
          <c:val>
            <c:numRef>
              <c:f>'Chart Data'!$B$2:$B$19</c:f>
              <c:numCache>
                <c:formatCode>0</c:formatCode>
                <c:ptCount val="18"/>
                <c:pt idx="0">
                  <c:v>8</c:v>
                </c:pt>
                <c:pt idx="1">
                  <c:v>14.273</c:v>
                </c:pt>
                <c:pt idx="2">
                  <c:v>14.273</c:v>
                </c:pt>
                <c:pt idx="3">
                  <c:v>14.379</c:v>
                </c:pt>
                <c:pt idx="4">
                  <c:v>6.728</c:v>
                </c:pt>
                <c:pt idx="5">
                  <c:v>6.728</c:v>
                </c:pt>
                <c:pt idx="6">
                  <c:v>6.728</c:v>
                </c:pt>
                <c:pt idx="7">
                  <c:v>5.086</c:v>
                </c:pt>
                <c:pt idx="8">
                  <c:v>4.686</c:v>
                </c:pt>
                <c:pt idx="9">
                  <c:v>10.592</c:v>
                </c:pt>
                <c:pt idx="10">
                  <c:v>14.569</c:v>
                </c:pt>
                <c:pt idx="11">
                  <c:v>11.874</c:v>
                </c:pt>
                <c:pt idx="12">
                  <c:v>7.874</c:v>
                </c:pt>
                <c:pt idx="13">
                  <c:v>7.874</c:v>
                </c:pt>
                <c:pt idx="14">
                  <c:v>7.874</c:v>
                </c:pt>
                <c:pt idx="15">
                  <c:v>7.874</c:v>
                </c:pt>
                <c:pt idx="16">
                  <c:v>14.205</c:v>
                </c:pt>
                <c:pt idx="17">
                  <c:v>14.205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Average speed (m/s)</c:v>
          </c:tx>
          <c:spPr>
            <a:solidFill xmlns:a="http://schemas.openxmlformats.org/drawingml/2006/main">
              <a:srgbClr val="167E9C"/>
            </a:solidFill>
          </c:spPr>
          <c:cat>
            <c:strRef>
              <c:f>'Chart Data'!$A$2:$A$5</c:f>
              <c:strCache>
                <c:ptCount val="4"/>
                <c:pt idx="0">
                  <c:v>RS ablation</c:v>
                </c:pt>
                <c:pt idx="1">
                  <c:v>A*</c:v>
                </c:pt>
                <c:pt idx="2">
                  <c:v>KARS</c:v>
                </c:pt>
                <c:pt idx="3">
                  <c:v>Age-aware KARS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11.603</c:v>
                </c:pt>
                <c:pt idx="1">
                  <c:v>10.258</c:v>
                </c:pt>
                <c:pt idx="2">
                  <c:v>10.258</c:v>
                </c:pt>
                <c:pt idx="3">
                  <c:v>10.222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20A0B-BD62-4DDA-B9E9-F2EB8A2C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Delay-aware traffic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72D82-4F29-485F-BA74-6F37785F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AE6E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AE6EB"/>
                </a:solidFill>
                <a:latin typeface="Arial"/>
                <a:ea typeface="Arial"/>
                <a:cs typeface="Arial"/>
              </a:rPr>
              <a:t>SUMO simulation of traffic knowledge and reachable motion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06BA7-C76F-4908-BC9A-9E3A65F1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AE6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AE6EB"/>
                </a:solidFill>
                <a:latin typeface="Arial"/>
                <a:ea typeface="Arial"/>
                <a:cs typeface="Arial"/>
              </a:rPr>
              <a:t>Final-year CSE / IoT project</a:t>
            </a:r>
          </a:p>
        </p:txBody>
      </p:sp>
    </p:spTree>
    <p:extLst>
      <p:ext uri="{BB962C8B-B14F-4D97-AF65-F5344CB8AC3E}">
        <p14:creationId xmlns:p14="http://schemas.microsoft.com/office/powerpoint/2010/main" val="47129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D02EA-E9A4-4B24-894E-DDAB37A1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Local planning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12C50-527E-404C-8963-ED207F99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Road restrictions and nearby vehicles change while the ego vehicle moves. Delayed observations can misrepresent available space.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6A78C-5611-49CF-B42A-5C6DDAD5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84393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30600-37D2-4235-AA72-39088127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Project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DECE4-D602-4560-A06E-78D038FC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A student laptop can reproduce traffic events and compare planning decisions using measured simulation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78FF4-27DB-4CEB-B96C-7F3C0604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3920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CD48D-E1F2-495B-90F0-191C24EC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Existing KARS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CCC37-A70C-4DC0-A7CB-AE05208C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The referenced KARS work connects traffic knowledge with reachable-set planning. This implementation uses project-level approximations.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6B318-5AE3-40EC-93F0-CA98FC5E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73519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881CC-5AF9-4E3E-8457-E23886C4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Experiment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A4783-33C5-4107-BE76-4838A447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We study delayed and lost traffic knowledge. The full paper was unavailable, so we do not assert an unverified gap in its experiments.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87F8E-D1B2-48A3-939B-E2A11CCE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70984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0BA76-172D-43BD-A105-F5801943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Proposed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DF024-4085-41E9-ABC6-29E99E71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Received packets become RDF constraints. The planner prunes motion, selects a chain and requests speed/lane changes.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E2675-E3A8-4C2B-8B69-C8873BCC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50030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EA941-7089-4708-9EB3-8B2ED4D2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58E1D-0F43-48F5-951E-FD8C9367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SUMO, TraCI, simulated IoT, RDF/SPARQL, RS, corridor DP, SLSQP and control form a repeating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D2D88-A7C2-495B-B9BA-AE874064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8383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SUMO /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TraCI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22FF5-882C-4DDE-B7E9-F1CD3FAB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33736-94C6-414E-B979-80CF6DF2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18383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IoT channel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36142-0210-4D7E-A452-8C6EFCC4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A9266-C47E-4B2B-93D6-666B3F2D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18383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RDF /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SPARQL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559A8-72CF-4CA4-9108-4AED0E8E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EF2C0-24A5-4E05-92DF-AEFEB4C2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18383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RS / DP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E7706-3E13-4895-8E3F-FE49D36C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59827-2A3E-4B5A-86A3-A386A772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18383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7F47E-7E7D-43E1-85E2-0D669E90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451837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6F8D0-34B8-4DF2-BB07-4A280E98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Simulated IoT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E3BD4-6803-4876-BE77-BC5BC3C4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A seeded channel delays or drops packets. Each snapshot retains its generation timestamp. No hardware sensor is claimed.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A5317-6D2B-41DE-A60A-8F410481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Observed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59B57-76CB-4751-A11D-465C9AA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2E479-E4C9-42CF-9B80-D91A3F40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Delay / loss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BB7EE-0E38-4B45-BD79-7787E61E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CB024-8AF5-40D6-AD55-F1A060EC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Received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snapshot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4C25C-260F-4678-8C98-4FD757D7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8CA26-C38F-4B59-9952-0B2F6FF9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Packet 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D8680-FB7D-4B2A-BAF8-BB17934F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86903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71A44-417E-4575-85BA-53D881F5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Knowledge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5867E-E858-43E0-8F25-C34D1B19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Static schema describes roads and lanes. Dynamic triples describe observed vehicles and active restrictions. SPARQL drives pruning.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20522-833E-465A-9DC4-66A45B10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Vehicle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triples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6846B-2767-4FC2-A1AC-25FF2948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120D7-32BD-4334-9050-5445A6A8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Restriction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triples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AB7BB-B490-47C5-BADB-53E6C181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18227-C6A9-407A-AEA6-EE5D3DBF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SPARQL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599FA-4C4B-4F3C-8471-276A3AD6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63246-75FF-44FC-AE17-3A43FD11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Planner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constraints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2F549-164C-49FC-A916-F4C5EE43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0999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4125F-FCEB-4487-AC99-80E31D12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Reachable motion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C1E85-BDD7-441D-9732-BE6B9F65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Offline samples define actions. Online propagation uses x_next=x+v dt+0.5a dt² and v_next=v+a dt. The grid is finite.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A412B-8675-4BDE-A8A1-4C6CB8B1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Offline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32534-E7BC-4604-B6E3-718C9217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2CFBD-667F-4B45-99CB-DE0524F4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Online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propagation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11A99-CD85-4E99-B54C-3FEE40C3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116E3-8CCA-4D5E-9C8F-FFDA28AE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Grid states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24D61-32A4-4059-994A-BD9E4509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2AD92-4A01-4623-85B8-1CF479AA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Feasible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transitions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1C9B7-CA5D-4F22-95A6-71F2CC15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87506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A36C7-D5E7-4653-9D84-749698B6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Traffic constraint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BD430-890B-48CD-BC79-523CBE28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Swept segments are checked against spatial, spatial-speed, spatial-temporal and spatial-temporal-speed restrictions.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F813F-F19A-41AD-B574-2D32AF08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Spatial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CB1FD-719C-4787-93DA-FFA18484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80DFA-C281-4E88-B129-126ED316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Spatial +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speed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E11FA-912B-473C-BAF7-CCA28C88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0544C-240D-4821-ABEF-9E6E35D0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Spatial +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0D7E1-EA24-499D-976B-81D57784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7AD16-F7AF-460B-8CF5-65CAC4B0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Spatial +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time + speed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709DF-D562-472A-9D24-1D89C549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054580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1F526-7CC1-4101-ABA8-FD429E81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Corridor and chain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BDD06-FD90-4AED-86D3-465A632B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Terminal lane endpoints define ancestor corridors. DP minimizes speed deficit, acceleration, lane switching and center distance.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D25C4-9A4A-423F-90C1-F72E5E32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Pruned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87ECE-745A-41C0-9AE1-D505BE89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DCB22-C0B9-460A-ACE5-3E931A81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Lane-ending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corridors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98D6A-A6D5-451B-B467-B28FAC21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39A8E-0B02-4A2C-8AB2-AB024871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Bellman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recurrence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B0B23-F10C-4CF6-AE56-589138E7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F54C5-8D7B-4B1B-8740-E3416AA7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Optimal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chain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DFBC5-9C9E-4804-9270-26088127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60160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E13B1-698D-4997-8F09-EF8F3241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Trajectory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47CC0-8148-4C30-A998-7B41E5E2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SLSQP smooths longitudinal acceleration within bounds. Invalid optimization falls back to the feasible DP chain.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4BEE1-8B40-482A-B0EF-233279C6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DP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positions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0AF52-AE4F-40BE-AF26-E3E09A90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820C6-2F6E-48E5-9BE3-70064CBA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SLSQP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acceleration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C3477-18B6-4609-9D2F-71420EE1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2F550-0DB0-4A20-A62A-EBE6A891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Safety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919C8-3714-45F3-A974-0053539F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2F424-8E6A-430C-B442-71651A1D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Trajectory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or 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08AF6-F2CF-4399-A13E-A35753B6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12961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55290-7A3D-4CF4-9DEF-D95F77B6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Age-aware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3501B-4039-4724-9C0E-622EDAE1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Vehicle occupancy grows with packet age. Missing or stale knowledge triggers controlled braking. Compare safety and progress together.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F40C3-FA06-4667-8869-3C781C05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Packet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timestamp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24BEE-1BCF-43DF-9218-32A8BB05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4BB82-B89F-4710-8D1D-B091005A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Age-dependent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margin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6B4FB-C499-451D-AD2C-CE40B1C3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AED4C-C920-4395-BD01-97303DC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Stale-data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2A346-9559-4377-AE69-846342EC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412432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E9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66103-3EEE-4D48-8643-33FEAA00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3714750"/>
            <a:ext cx="23574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167E9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Brake /</a:t>
            </a:r>
          </a:p>
          <a:p xmlns:a="http://schemas.openxmlformats.org/drawingml/2006/main">
            <a:pPr algn="ctr">
              <a:defRPr sz="1725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3345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DE1AC-5462-4CD2-B650-D9604510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345"/>
                </a:solidFill>
                <a:latin typeface="Arial"/>
                <a:ea typeface="Arial"/>
                <a:cs typeface="Arial"/>
              </a:rPr>
              <a:t>Age-aware vs ordinary KARS at 2 s delay</a:t>
            </a:r>
          </a:p>
          <a:p xmlns:a="http://schemas.openxmlformats.org/drawingml/2006/main">
            <a:pPr>
              <a:defRPr sz="2025" b="0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345"/>
                </a:solidFill>
                <a:latin typeface="Arial"/>
                <a:ea typeface="Arial"/>
                <a:cs typeface="Arial"/>
              </a:rPr>
              <a:t>Clearance 25.69 m vs 16.14 m</a:t>
            </a:r>
          </a:p>
          <a:p xmlns:a="http://schemas.openxmlformats.org/drawingml/2006/main">
            <a:pPr>
              <a:defRPr sz="2025" b="0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345"/>
                </a:solidFill>
                <a:latin typeface="Arial"/>
                <a:ea typeface="Arial"/>
                <a:cs typeface="Arial"/>
              </a:rPr>
              <a:t>Mean speed 9.896 m/s vs 10.045 m/s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D5C32-F36A-4D5E-9B37-C18F4153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826192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2EA81-2312-4E4A-B090-8938DA0B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SUMO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3DA9F-A4E1-436C-87DC-920E1DAB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Construction, temporary lane blockage, lead braking, changed speed cap and traffic signal exercise the full pipeline.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4DFCD-205E-4D6A-8E95-F9AABA92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648452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655BA-686A-43B8-A95F-EB52E0AD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Measured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9E75E-ED06-48DC-AA20-9396466C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The ego vehicle arrived. SUMO reported 0 collision events and 0 rule violation samples. The simulator safety controller stayed enabled.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887DB-9329-4130-9CD1-56C989DD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345"/>
                </a:solidFill>
                <a:latin typeface="Arial"/>
                <a:ea typeface="Arial"/>
                <a:cs typeface="Arial"/>
              </a:rPr>
              <a:t>Measured speed (m/s), simulation time (s)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04850" y="3333750"/>
          <a:ext xmlns:a="http://schemas.openxmlformats.org/drawingml/2006/main" cx="10477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9853aa8a2b465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2E9BA-016A-4178-A33A-E022A5A8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3345"/>
                </a:solidFill>
                <a:latin typeface="Arial"/>
                <a:ea typeface="Arial"/>
                <a:cs typeface="Arial"/>
              </a:rPr>
              <a:t>Arrival: 1    Collision events: 0    Rule violation samples: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E6F68-79C2-41A9-AF2E-CC1F4F55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366918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DCC84-7858-4C5E-8B1C-74D413DD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Baseline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C1382-B60B-40C9-AB6C-EAC2C833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A* searches the same feasible time-state graph. Basic RS omits traffic-rule pruning. All planners retain identical SUMO safety.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C857D-EEFC-439A-B775-D7F48E39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345"/>
                </a:solidFill>
                <a:latin typeface="Arial"/>
                <a:ea typeface="Arial"/>
                <a:cs typeface="Arial"/>
              </a:rPr>
              <a:t>Static scenario, mean speed over three seeds (m/s)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04850" y="3381375"/>
          <a:ext xmlns:a="http://schemas.openxmlformats.org/drawingml/2006/main" cx="10477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98100d95c3431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68552-C5F7-4527-8803-0CF45CA8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841936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E0EA1-32F2-40B8-AE5A-47BFA977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Project advantages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27583-FE56-4968-8D62-D9A6F5B0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Explicit queries and rejection sources make decisions auditable. Tests and seeded scenarios support reproduction.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9D29E-8CC3-4336-B411-9895A840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496620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7353E-9ECF-43C6-8432-516DDF92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Limits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F040B-A2EE-47ED-880E-D9DB4D10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Add validated lateral dynamics and physical obstacles. Obtain the full paper for equation alignment. Calibrate uncertainty before real deployment.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0587F-3055-4841-9983-6B9A9989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123683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07B13-EC38-4256-8222-87A416E1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3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345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D4071-C361-4FED-A86E-A8FA4BB0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55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5565"/>
                </a:solidFill>
                <a:latin typeface="Arial"/>
                <a:ea typeface="Arial"/>
                <a:cs typeface="Arial"/>
              </a:rPr>
              <a:t>The project demonstrates knowledge-driven local planning and an implementable delay-aware extension. Measured comparisons determine its benefit.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87E75-9E63-4C23-8CE9-234BDDC9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81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818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46768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2026-10-06T14:20:04.9310000Z</dcterms:created>
  <dcterms:modified xsi:type="dcterms:W3CDTF">2026-10-06T14:20:04.9310000Z</dcterms:modified>
</coreProperties>
</file>